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17" r:id="rId5"/>
    <p:sldId id="307" r:id="rId6"/>
    <p:sldId id="308" r:id="rId7"/>
    <p:sldId id="278" r:id="rId8"/>
    <p:sldId id="309" r:id="rId9"/>
    <p:sldId id="318" r:id="rId10"/>
    <p:sldId id="263" r:id="rId11"/>
    <p:sldId id="310" r:id="rId12"/>
    <p:sldId id="311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9" r:id="rId23"/>
    <p:sldId id="328" r:id="rId24"/>
    <p:sldId id="330" r:id="rId25"/>
    <p:sldId id="331" r:id="rId26"/>
    <p:sldId id="33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3" y="914400"/>
            <a:ext cx="10627147" cy="2054942"/>
          </a:xfrm>
        </p:spPr>
        <p:txBody>
          <a:bodyPr anchor="ctr"/>
          <a:lstStyle/>
          <a:p>
            <a:r>
              <a:rPr lang="en-US" dirty="0"/>
              <a:t>JavaFX and JDBC tutorial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1BC3F7-E8E2-451D-4712-E43CFA84DC6A}"/>
              </a:ext>
            </a:extLst>
          </p:cNvPr>
          <p:cNvSpPr txBox="1"/>
          <p:nvPr/>
        </p:nvSpPr>
        <p:spPr>
          <a:xfrm>
            <a:off x="8465576" y="5758934"/>
            <a:ext cx="2900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By Junaid Momin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83C77-E09C-F4F1-8CCD-3A496F4B0FAF}"/>
              </a:ext>
            </a:extLst>
          </p:cNvPr>
          <p:cNvSpPr txBox="1"/>
          <p:nvPr/>
        </p:nvSpPr>
        <p:spPr>
          <a:xfrm>
            <a:off x="270387" y="6097488"/>
            <a:ext cx="582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Fr. Conceicao Rodrigues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956298"/>
              </p:ext>
            </p:extLst>
          </p:nvPr>
        </p:nvGraphicFramePr>
        <p:xfrm>
          <a:off x="6869113" y="1143000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JAVAFX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HANDSON JAVAFX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JDBC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COMPLETE APPLICATION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">
            <a:extLst>
              <a:ext uri="{FF2B5EF4-FFF2-40B4-BE49-F238E27FC236}">
                <a16:creationId xmlns:a16="http://schemas.microsoft.com/office/drawing/2014/main" id="{16F6179B-A762-59DB-C8DA-7F0E00FF0381}"/>
              </a:ext>
            </a:extLst>
          </p:cNvPr>
          <p:cNvSpPr/>
          <p:nvPr/>
        </p:nvSpPr>
        <p:spPr>
          <a:xfrm>
            <a:off x="323579" y="2294259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96902CE-3309-3518-F85A-E4B6362C4669}"/>
              </a:ext>
            </a:extLst>
          </p:cNvPr>
          <p:cNvSpPr/>
          <p:nvPr/>
        </p:nvSpPr>
        <p:spPr>
          <a:xfrm>
            <a:off x="579611" y="2175387"/>
            <a:ext cx="4151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GUI lets people interact using windows, controls and visuals.</a:t>
            </a:r>
            <a:endParaRPr lang="en-US" sz="19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E77CBBF4-2B28-C11A-5843-CFD971A554F5}"/>
              </a:ext>
            </a:extLst>
          </p:cNvPr>
          <p:cNvSpPr/>
          <p:nvPr/>
        </p:nvSpPr>
        <p:spPr>
          <a:xfrm>
            <a:off x="323579" y="3318387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353DF70-BA48-E6DF-32C9-CC78CBE45F01}"/>
              </a:ext>
            </a:extLst>
          </p:cNvPr>
          <p:cNvSpPr/>
          <p:nvPr/>
        </p:nvSpPr>
        <p:spPr>
          <a:xfrm>
            <a:off x="579611" y="3199515"/>
            <a:ext cx="4151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JavaFX provides ready-made UI components for Java.</a:t>
            </a:r>
            <a:endParaRPr lang="en-US" sz="19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1BCED77F-158B-A160-FA68-D603D0408B6D}"/>
              </a:ext>
            </a:extLst>
          </p:cNvPr>
          <p:cNvSpPr/>
          <p:nvPr/>
        </p:nvSpPr>
        <p:spPr>
          <a:xfrm>
            <a:off x="323579" y="4342515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F4543361-181C-BCC4-87BF-228D14CA8800}"/>
              </a:ext>
            </a:extLst>
          </p:cNvPr>
          <p:cNvSpPr/>
          <p:nvPr/>
        </p:nvSpPr>
        <p:spPr>
          <a:xfrm>
            <a:off x="579611" y="4223643"/>
            <a:ext cx="4151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move beyond console input and output.</a:t>
            </a:r>
            <a:endParaRPr lang="en-US" sz="1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CEA1C14-9B6A-9C22-F863-683CE048A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987" y="792251"/>
            <a:ext cx="7343026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">
            <a:extLst>
              <a:ext uri="{FF2B5EF4-FFF2-40B4-BE49-F238E27FC236}">
                <a16:creationId xmlns:a16="http://schemas.microsoft.com/office/drawing/2014/main" id="{7F163C5F-AB92-79DF-5155-599DF04E6E69}"/>
              </a:ext>
            </a:extLst>
          </p:cNvPr>
          <p:cNvSpPr/>
          <p:nvPr/>
        </p:nvSpPr>
        <p:spPr>
          <a:xfrm>
            <a:off x="749808" y="1746504"/>
            <a:ext cx="5047488" cy="4014216"/>
          </a:xfrm>
          <a:prstGeom prst="roundRect">
            <a:avLst>
              <a:gd name="adj" fmla="val 2733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C787AAA-B83E-BDD8-2053-0FBEF3ECF531}"/>
              </a:ext>
            </a:extLst>
          </p:cNvPr>
          <p:cNvSpPr/>
          <p:nvPr/>
        </p:nvSpPr>
        <p:spPr>
          <a:xfrm>
            <a:off x="6382512" y="1746504"/>
            <a:ext cx="5047488" cy="4014216"/>
          </a:xfrm>
          <a:prstGeom prst="roundRect">
            <a:avLst>
              <a:gd name="adj" fmla="val 2733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88E1F18-CE29-D3D1-0772-30F3BDB25E71}"/>
              </a:ext>
            </a:extLst>
          </p:cNvPr>
          <p:cNvSpPr/>
          <p:nvPr/>
        </p:nvSpPr>
        <p:spPr>
          <a:xfrm>
            <a:off x="1024128" y="20208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 program</a:t>
            </a:r>
            <a:endParaRPr lang="en-US" sz="21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40AA01F-BB7E-1A72-EA02-E9173D3776FB}"/>
              </a:ext>
            </a:extLst>
          </p:cNvPr>
          <p:cNvSpPr/>
          <p:nvPr/>
        </p:nvSpPr>
        <p:spPr>
          <a:xfrm>
            <a:off x="1042416" y="2743200"/>
            <a:ext cx="4462272" cy="1508760"/>
          </a:xfrm>
          <a:prstGeom prst="roundRect">
            <a:avLst>
              <a:gd name="adj" fmla="val 7273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066D86C-D420-4369-CA60-7DFB2AE3CC62}"/>
              </a:ext>
            </a:extLst>
          </p:cNvPr>
          <p:cNvSpPr/>
          <p:nvPr/>
        </p:nvSpPr>
        <p:spPr>
          <a:xfrm>
            <a:off x="1243584" y="2916936"/>
            <a:ext cx="405993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Enter your name: Amit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Enter marks: 85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Saved student: Amit</a:t>
            </a:r>
            <a:endParaRPr lang="en-US" sz="17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609E0EE-C84A-350F-0C8C-9CF5D3E92968}"/>
              </a:ext>
            </a:extLst>
          </p:cNvPr>
          <p:cNvSpPr/>
          <p:nvPr/>
        </p:nvSpPr>
        <p:spPr>
          <a:xfrm>
            <a:off x="1051560" y="4800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16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text-based interaction</a:t>
            </a:r>
            <a:endParaRPr lang="en-US" sz="17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1CC2CA94-7A24-2546-2808-DBB183FB9022}"/>
              </a:ext>
            </a:extLst>
          </p:cNvPr>
          <p:cNvSpPr/>
          <p:nvPr/>
        </p:nvSpPr>
        <p:spPr>
          <a:xfrm>
            <a:off x="6675120" y="2020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JavaFX program</a:t>
            </a:r>
            <a:endParaRPr lang="en-US" sz="21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8A7F25BF-7B6A-07CC-05C6-AA715D0ADC21}"/>
              </a:ext>
            </a:extLst>
          </p:cNvPr>
          <p:cNvSpPr/>
          <p:nvPr/>
        </p:nvSpPr>
        <p:spPr>
          <a:xfrm>
            <a:off x="6976872" y="2697480"/>
            <a:ext cx="385876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9BC4EF2E-AF94-8CD6-DD95-C018FDF7CD89}"/>
              </a:ext>
            </a:extLst>
          </p:cNvPr>
          <p:cNvSpPr/>
          <p:nvPr/>
        </p:nvSpPr>
        <p:spPr>
          <a:xfrm>
            <a:off x="7269480" y="295351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6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80CA548B-3DC3-8C2F-6D06-C55DBF84CD9F}"/>
              </a:ext>
            </a:extLst>
          </p:cNvPr>
          <p:cNvSpPr/>
          <p:nvPr/>
        </p:nvSpPr>
        <p:spPr>
          <a:xfrm>
            <a:off x="8284464" y="2907792"/>
            <a:ext cx="2194560" cy="448056"/>
          </a:xfrm>
          <a:prstGeom prst="roundRect">
            <a:avLst>
              <a:gd name="adj" fmla="val 24490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C8B66BE1-6B9B-0D3F-EF67-64B9BD8D6BAF}"/>
              </a:ext>
            </a:extLst>
          </p:cNvPr>
          <p:cNvSpPr/>
          <p:nvPr/>
        </p:nvSpPr>
        <p:spPr>
          <a:xfrm>
            <a:off x="841248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Amit</a:t>
            </a:r>
            <a:endParaRPr lang="en-US" sz="16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810B07C2-9DC6-F64B-E21C-2E9B747FF44D}"/>
              </a:ext>
            </a:extLst>
          </p:cNvPr>
          <p:cNvSpPr/>
          <p:nvPr/>
        </p:nvSpPr>
        <p:spPr>
          <a:xfrm>
            <a:off x="7269480" y="359359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</a:t>
            </a:r>
            <a:endParaRPr lang="en-US" sz="160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C312FA79-9999-5E8D-4878-AE80A3C5C46E}"/>
              </a:ext>
            </a:extLst>
          </p:cNvPr>
          <p:cNvSpPr/>
          <p:nvPr/>
        </p:nvSpPr>
        <p:spPr>
          <a:xfrm>
            <a:off x="8284464" y="3547872"/>
            <a:ext cx="2194560" cy="448056"/>
          </a:xfrm>
          <a:prstGeom prst="roundRect">
            <a:avLst>
              <a:gd name="adj" fmla="val 24490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71B5FD57-3B42-D039-1DF6-CF04207442F9}"/>
              </a:ext>
            </a:extLst>
          </p:cNvPr>
          <p:cNvSpPr/>
          <p:nvPr/>
        </p:nvSpPr>
        <p:spPr>
          <a:xfrm>
            <a:off x="841248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en-US" sz="160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FCEEFE93-9E81-4619-1C3E-E1E91E3FA890}"/>
              </a:ext>
            </a:extLst>
          </p:cNvPr>
          <p:cNvSpPr/>
          <p:nvPr/>
        </p:nvSpPr>
        <p:spPr>
          <a:xfrm>
            <a:off x="8394192" y="4187952"/>
            <a:ext cx="1892808" cy="448056"/>
          </a:xfrm>
          <a:prstGeom prst="roundRect">
            <a:avLst>
              <a:gd name="adj" fmla="val 16327"/>
            </a:avLst>
          </a:prstGeom>
          <a:solidFill>
            <a:srgbClr val="195E54"/>
          </a:solidFill>
          <a:ln w="12700">
            <a:solidFill>
              <a:srgbClr val="195E54"/>
            </a:solidFill>
            <a:prstDash val="solid"/>
          </a:ln>
        </p:spPr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9BDE38B4-48B8-EF2B-7A54-941D82D82651}"/>
              </a:ext>
            </a:extLst>
          </p:cNvPr>
          <p:cNvSpPr/>
          <p:nvPr/>
        </p:nvSpPr>
        <p:spPr>
          <a:xfrm>
            <a:off x="8577072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160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7DEB9D45-DB79-F724-62D0-3EE5E04F9093}"/>
              </a:ext>
            </a:extLst>
          </p:cNvPr>
          <p:cNvSpPr/>
          <p:nvPr/>
        </p:nvSpPr>
        <p:spPr>
          <a:xfrm>
            <a:off x="6720840" y="5148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16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interaction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005AB2F-743B-BB4B-7AB1-9ED3755FC98B}"/>
              </a:ext>
            </a:extLst>
          </p:cNvPr>
          <p:cNvSpPr/>
          <p:nvPr/>
        </p:nvSpPr>
        <p:spPr>
          <a:xfrm>
            <a:off x="6757416" y="1810512"/>
            <a:ext cx="3621024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pic>
        <p:nvPicPr>
          <p:cNvPr id="6" name="Image 0" descr="/mnt/data/JavaFX_JDBC_Corrected_Images/assets/stage_scene.png">
            <a:extLst>
              <a:ext uri="{FF2B5EF4-FFF2-40B4-BE49-F238E27FC236}">
                <a16:creationId xmlns:a16="http://schemas.microsoft.com/office/drawing/2014/main" id="{D51C829A-2131-1C6C-E10A-63F2ADAAC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233684"/>
            <a:ext cx="3511296" cy="2719815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BD78FFB1-977B-6C36-DAE6-24D20955CFD7}"/>
              </a:ext>
            </a:extLst>
          </p:cNvPr>
          <p:cNvSpPr/>
          <p:nvPr/>
        </p:nvSpPr>
        <p:spPr>
          <a:xfrm>
            <a:off x="868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2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4B05873-9ADF-ACFA-F66C-73D084C68CB3}"/>
              </a:ext>
            </a:extLst>
          </p:cNvPr>
          <p:cNvSpPr/>
          <p:nvPr/>
        </p:nvSpPr>
        <p:spPr>
          <a:xfrm>
            <a:off x="868680" y="23500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top-level application window.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1014372-7C2F-855C-953C-3E8B4C733BCF}"/>
              </a:ext>
            </a:extLst>
          </p:cNvPr>
          <p:cNvSpPr/>
          <p:nvPr/>
        </p:nvSpPr>
        <p:spPr>
          <a:xfrm>
            <a:off x="868680" y="33101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</a:t>
            </a:r>
            <a:endParaRPr lang="en-US" sz="20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61A0E6D-C043-74D8-541B-9FF84937158B}"/>
              </a:ext>
            </a:extLst>
          </p:cNvPr>
          <p:cNvSpPr/>
          <p:nvPr/>
        </p:nvSpPr>
        <p:spPr>
          <a:xfrm>
            <a:off x="868680" y="373989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content held inside a Stage.</a:t>
            </a:r>
            <a:endParaRPr lang="en-US" sz="18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FE4F3C8-6F89-2B80-7092-22B776CA6B8F}"/>
              </a:ext>
            </a:extLst>
          </p:cNvPr>
          <p:cNvSpPr/>
          <p:nvPr/>
        </p:nvSpPr>
        <p:spPr>
          <a:xfrm>
            <a:off x="86868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20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DBEF9A31-8FE0-DC63-AFD9-994D8E5E5CC1}"/>
              </a:ext>
            </a:extLst>
          </p:cNvPr>
          <p:cNvSpPr/>
          <p:nvPr/>
        </p:nvSpPr>
        <p:spPr>
          <a:xfrm>
            <a:off x="868680" y="50932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button, label, image, shape or layout.</a:t>
            </a:r>
            <a:endParaRPr lang="en-US" sz="18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0DDE4D6-23B7-EC8F-4A0B-917A5A1EBCD2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Stage, Scene and Nodes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5396310-3F2B-42BD-E318-5B69D45A80B5}"/>
              </a:ext>
            </a:extLst>
          </p:cNvPr>
          <p:cNvSpPr/>
          <p:nvPr/>
        </p:nvSpPr>
        <p:spPr>
          <a:xfrm>
            <a:off x="640080" y="1417320"/>
            <a:ext cx="10899648" cy="0"/>
          </a:xfrm>
          <a:prstGeom prst="line">
            <a:avLst/>
          </a:prstGeom>
          <a:noFill/>
          <a:ln w="12700">
            <a:solidFill>
              <a:srgbClr val="D4DBD6"/>
            </a:solidFill>
            <a:prstDash val="solid"/>
          </a:ln>
        </p:spPr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9E863D47-F7E1-0119-90F0-A54F133778E7}"/>
              </a:ext>
            </a:extLst>
          </p:cNvPr>
          <p:cNvSpPr/>
          <p:nvPr/>
        </p:nvSpPr>
        <p:spPr>
          <a:xfrm>
            <a:off x="6163056" y="1828800"/>
            <a:ext cx="5202936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pic>
        <p:nvPicPr>
          <p:cNvPr id="8" name="Image 0" descr="/mnt/data/JavaFX_JDBC_Corrected_Images/assets/class_diagram.png">
            <a:extLst>
              <a:ext uri="{FF2B5EF4-FFF2-40B4-BE49-F238E27FC236}">
                <a16:creationId xmlns:a16="http://schemas.microsoft.com/office/drawing/2014/main" id="{DC344544-E23D-88F0-8159-FCC8424D6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531" y="1883664"/>
            <a:ext cx="4667986" cy="3959352"/>
          </a:xfrm>
          <a:prstGeom prst="rect">
            <a:avLst/>
          </a:prstGeom>
        </p:spPr>
      </p:pic>
      <p:sp>
        <p:nvSpPr>
          <p:cNvPr id="10" name="Text 8">
            <a:extLst>
              <a:ext uri="{FF2B5EF4-FFF2-40B4-BE49-F238E27FC236}">
                <a16:creationId xmlns:a16="http://schemas.microsoft.com/office/drawing/2014/main" id="{DD48DDBB-A3CA-35C8-4248-7F30DFAFC512}"/>
              </a:ext>
            </a:extLst>
          </p:cNvPr>
          <p:cNvSpPr/>
          <p:nvPr/>
        </p:nvSpPr>
        <p:spPr>
          <a:xfrm>
            <a:off x="6217920" y="5971032"/>
            <a:ext cx="50932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177BD99E-B2DF-1C58-DB77-09C8A267B3EF}"/>
              </a:ext>
            </a:extLst>
          </p:cNvPr>
          <p:cNvSpPr/>
          <p:nvPr/>
        </p:nvSpPr>
        <p:spPr>
          <a:xfrm>
            <a:off x="1042416" y="3035808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67F4095-2116-0361-F69C-D7EB0481E8AD}"/>
              </a:ext>
            </a:extLst>
          </p:cNvPr>
          <p:cNvSpPr/>
          <p:nvPr/>
        </p:nvSpPr>
        <p:spPr>
          <a:xfrm>
            <a:off x="1042416" y="4114800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F90B8B-6C89-C3A5-6B8A-AB67D4C729CA}"/>
              </a:ext>
            </a:extLst>
          </p:cNvPr>
          <p:cNvSpPr txBox="1"/>
          <p:nvPr/>
        </p:nvSpPr>
        <p:spPr>
          <a:xfrm>
            <a:off x="530942" y="318028"/>
            <a:ext cx="609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JavaFX offers more than buttons</a:t>
            </a:r>
            <a:endParaRPr lang="en-US" sz="3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A55E09-CBE1-BC26-3523-62A6AC93B06E}"/>
              </a:ext>
            </a:extLst>
          </p:cNvPr>
          <p:cNvSpPr txBox="1"/>
          <p:nvPr/>
        </p:nvSpPr>
        <p:spPr>
          <a:xfrm>
            <a:off x="200794" y="2048610"/>
            <a:ext cx="5828151" cy="317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javafx.application.Application</a:t>
            </a:r>
            <a:r>
              <a:rPr lang="en-IN" sz="1800" b="1" dirty="0"/>
              <a:t> </a:t>
            </a:r>
            <a:r>
              <a:rPr lang="en-IN" sz="1800" dirty="0"/>
              <a:t>is the entry point for JavaFX applications. JavaFX creates an application thread for running the application start method, processing input events, and running animation timelines.  We override the start(Stage) method!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javafx.stage.Stage</a:t>
            </a:r>
            <a:r>
              <a:rPr lang="en-IN" sz="1800" b="1" dirty="0"/>
              <a:t> </a:t>
            </a:r>
            <a:r>
              <a:rPr lang="en-IN" sz="1800" dirty="0"/>
              <a:t>is the top level JavaFX container (i.e., window). The primary Stage is constructed by the platform.  </a:t>
            </a:r>
            <a:r>
              <a:rPr lang="en-IN" sz="1800" b="1" dirty="0" err="1"/>
              <a:t>javafx.scene.Scene</a:t>
            </a:r>
            <a:r>
              <a:rPr lang="en-IN" sz="1800" b="1" dirty="0"/>
              <a:t> </a:t>
            </a:r>
            <a:r>
              <a:rPr lang="en-IN" sz="1800" dirty="0"/>
              <a:t>class is the container for all content in a scene graph in the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 </a:t>
            </a:r>
            <a:r>
              <a:rPr lang="en-IN" sz="1800" b="1" dirty="0" err="1"/>
              <a:t>javafx.scene.Node</a:t>
            </a:r>
            <a:r>
              <a:rPr lang="en-IN" sz="1800" b="1" dirty="0"/>
              <a:t> </a:t>
            </a:r>
            <a:r>
              <a:rPr lang="en-IN" sz="1800" dirty="0"/>
              <a:t>is the base class for scene graph nodes (i.e., components).</a:t>
            </a:r>
          </a:p>
        </p:txBody>
      </p:sp>
    </p:spTree>
    <p:extLst>
      <p:ext uri="{BB962C8B-B14F-4D97-AF65-F5344CB8AC3E}">
        <p14:creationId xmlns:p14="http://schemas.microsoft.com/office/powerpoint/2010/main" val="310229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>
            <a:extLst>
              <a:ext uri="{FF2B5EF4-FFF2-40B4-BE49-F238E27FC236}">
                <a16:creationId xmlns:a16="http://schemas.microsoft.com/office/drawing/2014/main" id="{26837351-624C-3576-CF7E-C095E0BFC77C}"/>
              </a:ext>
            </a:extLst>
          </p:cNvPr>
          <p:cNvSpPr/>
          <p:nvPr/>
        </p:nvSpPr>
        <p:spPr>
          <a:xfrm>
            <a:off x="7397496" y="1993392"/>
            <a:ext cx="2971800" cy="3547872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pic>
        <p:nvPicPr>
          <p:cNvPr id="5" name="Image 0" descr="/mnt/data/JavaFX_JDBC_Corrected_Images/assets/first_button_window.png">
            <a:extLst>
              <a:ext uri="{FF2B5EF4-FFF2-40B4-BE49-F238E27FC236}">
                <a16:creationId xmlns:a16="http://schemas.microsoft.com/office/drawing/2014/main" id="{360EE18F-30D4-B33C-4DC4-17FFCD49C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728" y="2048256"/>
            <a:ext cx="2573335" cy="3438144"/>
          </a:xfrm>
          <a:prstGeom prst="rect">
            <a:avLst/>
          </a:prstGeom>
        </p:spPr>
      </p:pic>
      <p:sp>
        <p:nvSpPr>
          <p:cNvPr id="9" name="Shape 9">
            <a:extLst>
              <a:ext uri="{FF2B5EF4-FFF2-40B4-BE49-F238E27FC236}">
                <a16:creationId xmlns:a16="http://schemas.microsoft.com/office/drawing/2014/main" id="{2F17A381-01E8-B408-0CED-5102AA4F4466}"/>
              </a:ext>
            </a:extLst>
          </p:cNvPr>
          <p:cNvSpPr/>
          <p:nvPr/>
        </p:nvSpPr>
        <p:spPr>
          <a:xfrm>
            <a:off x="235974" y="1150374"/>
            <a:ext cx="6872749" cy="5260257"/>
          </a:xfrm>
          <a:prstGeom prst="roundRect">
            <a:avLst>
              <a:gd name="adj" fmla="val 4412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javafx.application.Application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javafx.stage.Stage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javafx.scene.Scene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javafx.scene.control.Button</a:t>
            </a:r>
            <a:r>
              <a:rPr lang="en-IN" dirty="0"/>
              <a:t>;</a:t>
            </a:r>
          </a:p>
          <a:p>
            <a:r>
              <a:rPr lang="en-IN" dirty="0"/>
              <a:t>public class </a:t>
            </a:r>
            <a:r>
              <a:rPr lang="en-IN" dirty="0" err="1"/>
              <a:t>MyFirstJavaFX</a:t>
            </a:r>
            <a:r>
              <a:rPr lang="en-IN" dirty="0"/>
              <a:t> extends Application {</a:t>
            </a:r>
          </a:p>
          <a:p>
            <a:r>
              <a:rPr lang="en-IN" dirty="0"/>
              <a:t>   @Override // Override the start method in the Application class</a:t>
            </a:r>
          </a:p>
          <a:p>
            <a:r>
              <a:rPr lang="en-IN" dirty="0"/>
              <a:t>  public void start(Stage </a:t>
            </a:r>
            <a:r>
              <a:rPr lang="en-IN" dirty="0" err="1"/>
              <a:t>primaryStage</a:t>
            </a:r>
            <a:r>
              <a:rPr lang="en-IN" dirty="0"/>
              <a:t>) {</a:t>
            </a:r>
          </a:p>
          <a:p>
            <a:r>
              <a:rPr lang="en-IN" dirty="0"/>
              <a:t>    // Create a button and place it in the scene</a:t>
            </a:r>
          </a:p>
          <a:p>
            <a:r>
              <a:rPr lang="en-IN" dirty="0"/>
              <a:t>    Button </a:t>
            </a:r>
            <a:r>
              <a:rPr lang="en-IN" dirty="0" err="1"/>
              <a:t>btOK</a:t>
            </a:r>
            <a:r>
              <a:rPr lang="en-IN" dirty="0"/>
              <a:t> = new Button("OK");</a:t>
            </a:r>
          </a:p>
          <a:p>
            <a:r>
              <a:rPr lang="en-IN" dirty="0"/>
              <a:t>    Scene </a:t>
            </a:r>
            <a:r>
              <a:rPr lang="en-IN" dirty="0" err="1"/>
              <a:t>scene</a:t>
            </a:r>
            <a:r>
              <a:rPr lang="en-IN" dirty="0"/>
              <a:t> = new Scene(</a:t>
            </a:r>
            <a:r>
              <a:rPr lang="en-IN" dirty="0" err="1"/>
              <a:t>btOK</a:t>
            </a:r>
            <a:r>
              <a:rPr lang="en-IN" dirty="0"/>
              <a:t>, 200, 250);</a:t>
            </a:r>
          </a:p>
          <a:p>
            <a:r>
              <a:rPr lang="en-IN" dirty="0"/>
              <a:t>    </a:t>
            </a:r>
            <a:r>
              <a:rPr lang="en-IN" dirty="0" err="1"/>
              <a:t>primaryStage.setScene</a:t>
            </a:r>
            <a:r>
              <a:rPr lang="en-IN" dirty="0"/>
              <a:t>(scene); // Place the scene in the stage</a:t>
            </a:r>
          </a:p>
          <a:p>
            <a:r>
              <a:rPr lang="en-IN" dirty="0"/>
              <a:t>    </a:t>
            </a:r>
            <a:r>
              <a:rPr lang="en-IN" dirty="0" err="1"/>
              <a:t>primaryStage.setTitle</a:t>
            </a:r>
            <a:r>
              <a:rPr lang="en-IN" dirty="0"/>
              <a:t>("</a:t>
            </a:r>
            <a:r>
              <a:rPr lang="en-IN" dirty="0" err="1"/>
              <a:t>MyJavaFX</a:t>
            </a:r>
            <a:r>
              <a:rPr lang="en-IN" dirty="0"/>
              <a:t>"); // Set the stage title</a:t>
            </a:r>
          </a:p>
          <a:p>
            <a:r>
              <a:rPr lang="en-IN" dirty="0"/>
              <a:t>    </a:t>
            </a:r>
            <a:r>
              <a:rPr lang="en-IN" dirty="0" err="1"/>
              <a:t>primaryStage.show</a:t>
            </a:r>
            <a:r>
              <a:rPr lang="en-IN" dirty="0"/>
              <a:t>(); // Display the stage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launch(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0DCB08-5DE2-E016-30E3-583E91C32946}"/>
              </a:ext>
            </a:extLst>
          </p:cNvPr>
          <p:cNvSpPr/>
          <p:nvPr/>
        </p:nvSpPr>
        <p:spPr>
          <a:xfrm>
            <a:off x="978408" y="2414016"/>
            <a:ext cx="564184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6D79BF-E23E-BE9B-FDDF-A653F035F9CC}"/>
              </a:ext>
            </a:extLst>
          </p:cNvPr>
          <p:cNvSpPr txBox="1"/>
          <p:nvPr/>
        </p:nvSpPr>
        <p:spPr>
          <a:xfrm>
            <a:off x="235974" y="262703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Simple button creation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D0A052-026A-42A1-B442-4B86B35C9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32" y="672758"/>
            <a:ext cx="10429568" cy="555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B7B45-A5A4-A820-4A39-40CEC6646B87}"/>
              </a:ext>
            </a:extLst>
          </p:cNvPr>
          <p:cNvSpPr txBox="1"/>
          <p:nvPr/>
        </p:nvSpPr>
        <p:spPr>
          <a:xfrm>
            <a:off x="580103" y="507148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javafx.application.Application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javafx.stage.Stage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javafx.scene.Scene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javafx.scene.layout.StackPane</a:t>
            </a:r>
            <a:r>
              <a:rPr lang="en-IN" dirty="0"/>
              <a:t>; //added newly</a:t>
            </a:r>
          </a:p>
          <a:p>
            <a:r>
              <a:rPr lang="en-IN" dirty="0"/>
              <a:t>import </a:t>
            </a:r>
            <a:r>
              <a:rPr lang="en-IN" dirty="0" err="1"/>
              <a:t>javafx.scene.control.Button</a:t>
            </a:r>
            <a:r>
              <a:rPr lang="en-IN" dirty="0"/>
              <a:t>;</a:t>
            </a:r>
          </a:p>
          <a:p>
            <a:r>
              <a:rPr lang="en-IN" dirty="0"/>
              <a:t>public class </a:t>
            </a:r>
            <a:r>
              <a:rPr lang="en-IN" dirty="0" err="1"/>
              <a:t>ButtonInPane</a:t>
            </a:r>
            <a:r>
              <a:rPr lang="en-IN" dirty="0"/>
              <a:t> extends Application {@Override // Override the start method in the Application class</a:t>
            </a:r>
          </a:p>
          <a:p>
            <a:r>
              <a:rPr lang="en-IN" dirty="0"/>
              <a:t>  public void start(Stage </a:t>
            </a:r>
            <a:r>
              <a:rPr lang="en-IN" dirty="0" err="1"/>
              <a:t>primaryStage</a:t>
            </a:r>
            <a:r>
              <a:rPr lang="en-IN" dirty="0"/>
              <a:t>) {</a:t>
            </a:r>
          </a:p>
          <a:p>
            <a:r>
              <a:rPr lang="en-IN" dirty="0"/>
              <a:t>    // Create a scene and place a button in the scene</a:t>
            </a:r>
          </a:p>
          <a:p>
            <a:r>
              <a:rPr lang="en-IN" dirty="0"/>
              <a:t>    </a:t>
            </a:r>
            <a:r>
              <a:rPr lang="en-IN" dirty="0" err="1"/>
              <a:t>StackPane</a:t>
            </a:r>
            <a:r>
              <a:rPr lang="en-IN" dirty="0"/>
              <a:t> pane = new </a:t>
            </a:r>
            <a:r>
              <a:rPr lang="en-IN" dirty="0" err="1"/>
              <a:t>StackPane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pane.getChildren</a:t>
            </a:r>
            <a:r>
              <a:rPr lang="en-IN" dirty="0"/>
              <a:t>().add(new Button("OK")); </a:t>
            </a:r>
          </a:p>
          <a:p>
            <a:r>
              <a:rPr lang="en-IN" dirty="0"/>
              <a:t>    Scene </a:t>
            </a:r>
            <a:r>
              <a:rPr lang="en-IN" dirty="0" err="1"/>
              <a:t>scene</a:t>
            </a:r>
            <a:r>
              <a:rPr lang="en-IN" dirty="0"/>
              <a:t> = new Scene(pane, 200, 50);</a:t>
            </a:r>
          </a:p>
          <a:p>
            <a:r>
              <a:rPr lang="en-IN" dirty="0"/>
              <a:t>    </a:t>
            </a:r>
            <a:r>
              <a:rPr lang="en-IN" dirty="0" err="1"/>
              <a:t>primaryStage.setTitle</a:t>
            </a:r>
            <a:r>
              <a:rPr lang="en-IN" dirty="0"/>
              <a:t>("Button in a pane"); // Set the stage title</a:t>
            </a:r>
          </a:p>
          <a:p>
            <a:r>
              <a:rPr lang="en-IN" dirty="0"/>
              <a:t>    </a:t>
            </a:r>
            <a:r>
              <a:rPr lang="en-IN" dirty="0" err="1"/>
              <a:t>primaryStage.setScene</a:t>
            </a:r>
            <a:r>
              <a:rPr lang="en-IN" dirty="0"/>
              <a:t>(scene); // Place the scene in the stage</a:t>
            </a:r>
          </a:p>
          <a:p>
            <a:r>
              <a:rPr lang="en-IN" dirty="0"/>
              <a:t>    </a:t>
            </a:r>
            <a:r>
              <a:rPr lang="en-IN" dirty="0" err="1"/>
              <a:t>primaryStage.show</a:t>
            </a:r>
            <a:r>
              <a:rPr lang="en-IN" dirty="0"/>
              <a:t>(); // Display the stage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launch(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4B65E9-A88A-0F4E-E1B6-B9602D8ED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74" y="2232556"/>
            <a:ext cx="2933954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7">
            <a:extLst>
              <a:ext uri="{FF2B5EF4-FFF2-40B4-BE49-F238E27FC236}">
                <a16:creationId xmlns:a16="http://schemas.microsoft.com/office/drawing/2014/main" id="{56B5770B-FC1D-2808-2030-05652715E5AF}"/>
              </a:ext>
            </a:extLst>
          </p:cNvPr>
          <p:cNvSpPr/>
          <p:nvPr/>
        </p:nvSpPr>
        <p:spPr>
          <a:xfrm>
            <a:off x="6803136" y="1810512"/>
            <a:ext cx="4151376" cy="3273552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pic>
        <p:nvPicPr>
          <p:cNvPr id="6" name="Image 0" descr="/mnt/data/JavaFX_JDBC_Corrected_Images/assets/flowpane_output.png">
            <a:extLst>
              <a:ext uri="{FF2B5EF4-FFF2-40B4-BE49-F238E27FC236}">
                <a16:creationId xmlns:a16="http://schemas.microsoft.com/office/drawing/2014/main" id="{83BA8D19-95C2-3344-E32C-4CA5F780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530" y="1865376"/>
            <a:ext cx="3708588" cy="316382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0D97C6B8-B507-13BC-8119-5D5B37E92AC7}"/>
              </a:ext>
            </a:extLst>
          </p:cNvPr>
          <p:cNvSpPr/>
          <p:nvPr/>
        </p:nvSpPr>
        <p:spPr>
          <a:xfrm>
            <a:off x="6858000" y="515721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21C47F78-BA53-1686-8DBD-417D72B2DA71}"/>
              </a:ext>
            </a:extLst>
          </p:cNvPr>
          <p:cNvSpPr/>
          <p:nvPr/>
        </p:nvSpPr>
        <p:spPr>
          <a:xfrm>
            <a:off x="795528" y="1993392"/>
            <a:ext cx="5623560" cy="3108960"/>
          </a:xfrm>
          <a:prstGeom prst="roundRect">
            <a:avLst>
              <a:gd name="adj" fmla="val 3529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D23271-2C3C-9305-6D34-032C7CF2EA1D}"/>
              </a:ext>
            </a:extLst>
          </p:cNvPr>
          <p:cNvSpPr/>
          <p:nvPr/>
        </p:nvSpPr>
        <p:spPr>
          <a:xfrm>
            <a:off x="996696" y="2167128"/>
            <a:ext cx="52212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FlowPane pane = new FlowPane();</a:t>
            </a:r>
            <a:endParaRPr lang="en-US" sz="1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pane.setHgap(6);</a:t>
            </a:r>
            <a:endParaRPr lang="en-US" sz="1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pane.setVgap(6);</a:t>
            </a:r>
            <a:endParaRPr lang="en-US" sz="1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pane.getChildren().addAll(</a:t>
            </a:r>
            <a:endParaRPr lang="en-US" sz="1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new Label("First name"), new TextField(),</a:t>
            </a:r>
            <a:endParaRPr lang="en-US" sz="1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new Label("Last name"), new TextField()</a:t>
            </a:r>
            <a:endParaRPr lang="en-US" sz="1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);</a:t>
            </a: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AE8F81F-919F-B4B6-794D-EABA8B03ECFB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FlowPane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263865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9">
            <a:extLst>
              <a:ext uri="{FF2B5EF4-FFF2-40B4-BE49-F238E27FC236}">
                <a16:creationId xmlns:a16="http://schemas.microsoft.com/office/drawing/2014/main" id="{2C2C9F01-5E78-32A7-881C-88CD7A10A970}"/>
              </a:ext>
            </a:extLst>
          </p:cNvPr>
          <p:cNvSpPr/>
          <p:nvPr/>
        </p:nvSpPr>
        <p:spPr>
          <a:xfrm>
            <a:off x="589050" y="1373960"/>
            <a:ext cx="10779990" cy="3108960"/>
          </a:xfrm>
          <a:prstGeom prst="roundRect">
            <a:avLst>
              <a:gd name="adj" fmla="val 3529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A484614-CD18-67AC-C40F-1419E877BD5B}"/>
              </a:ext>
            </a:extLst>
          </p:cNvPr>
          <p:cNvSpPr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far</a:t>
            </a:r>
            <a:endParaRPr lang="en-US" sz="2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740DA94-E038-5B56-AB04-6FEDFE9107CA}"/>
              </a:ext>
            </a:extLst>
          </p:cNvPr>
          <p:cNvSpPr/>
          <p:nvPr/>
        </p:nvSpPr>
        <p:spPr>
          <a:xfrm>
            <a:off x="868680" y="2514600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0B5FF6-C745-8737-A5D7-CA09A1FA7087}"/>
              </a:ext>
            </a:extLst>
          </p:cNvPr>
          <p:cNvSpPr/>
          <p:nvPr/>
        </p:nvSpPr>
        <p:spPr>
          <a:xfrm>
            <a:off x="1124712" y="2395728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can click, type and see changes.</a:t>
            </a:r>
            <a:endParaRPr lang="en-US" sz="19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67D714DA-F56A-A781-7A34-59B2322CE31C}"/>
              </a:ext>
            </a:extLst>
          </p:cNvPr>
          <p:cNvSpPr/>
          <p:nvPr/>
        </p:nvSpPr>
        <p:spPr>
          <a:xfrm>
            <a:off x="868680" y="3639312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14E459C-463F-6E67-A563-71BB72914BAC}"/>
              </a:ext>
            </a:extLst>
          </p:cNvPr>
          <p:cNvSpPr/>
          <p:nvPr/>
        </p:nvSpPr>
        <p:spPr>
          <a:xfrm>
            <a:off x="1124712" y="3520440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disappears when the app closes.</a:t>
            </a:r>
            <a:endParaRPr lang="en-US" sz="19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7F989ED-1C00-0636-0ED3-EF0C4F9C53A1}"/>
              </a:ext>
            </a:extLst>
          </p:cNvPr>
          <p:cNvSpPr/>
          <p:nvPr/>
        </p:nvSpPr>
        <p:spPr>
          <a:xfrm>
            <a:off x="6501384" y="2514600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726DDB7-2F9E-E0FC-27CE-057E5212B5ED}"/>
              </a:ext>
            </a:extLst>
          </p:cNvPr>
          <p:cNvSpPr/>
          <p:nvPr/>
        </p:nvSpPr>
        <p:spPr>
          <a:xfrm>
            <a:off x="6757416" y="2395728"/>
            <a:ext cx="4334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the same data in MySQL.</a:t>
            </a:r>
            <a:endParaRPr lang="en-US" sz="19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39498906-A501-2D40-01E4-E198DBEFF034}"/>
              </a:ext>
            </a:extLst>
          </p:cNvPr>
          <p:cNvSpPr/>
          <p:nvPr/>
        </p:nvSpPr>
        <p:spPr>
          <a:xfrm>
            <a:off x="6501384" y="3639312"/>
            <a:ext cx="91440" cy="91440"/>
          </a:xfrm>
          <a:prstGeom prst="ellipse">
            <a:avLst/>
          </a:prstGeom>
          <a:solidFill>
            <a:srgbClr val="B95434"/>
          </a:solidFill>
          <a:ln w="12700">
            <a:solidFill>
              <a:srgbClr val="B95434"/>
            </a:solidFill>
            <a:prstDash val="solid"/>
          </a:ln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F812D132-59AB-9496-2DBD-95C4330C01F2}"/>
              </a:ext>
            </a:extLst>
          </p:cNvPr>
          <p:cNvSpPr/>
          <p:nvPr/>
        </p:nvSpPr>
        <p:spPr>
          <a:xfrm>
            <a:off x="6757416" y="3520440"/>
            <a:ext cx="4334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it when the app starts again.</a:t>
            </a:r>
            <a:endParaRPr lang="en-US" sz="1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DD9A8C-B3FB-6904-B118-11E83DCCA4F8}"/>
              </a:ext>
            </a:extLst>
          </p:cNvPr>
          <p:cNvSpPr txBox="1"/>
          <p:nvPr/>
        </p:nvSpPr>
        <p:spPr>
          <a:xfrm>
            <a:off x="486992" y="502821"/>
            <a:ext cx="610583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add persistence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15381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6">
            <a:extLst>
              <a:ext uri="{FF2B5EF4-FFF2-40B4-BE49-F238E27FC236}">
                <a16:creationId xmlns:a16="http://schemas.microsoft.com/office/drawing/2014/main" id="{EF63EC68-E479-E413-E967-362528E7F678}"/>
              </a:ext>
            </a:extLst>
          </p:cNvPr>
          <p:cNvSpPr/>
          <p:nvPr/>
        </p:nvSpPr>
        <p:spPr>
          <a:xfrm>
            <a:off x="914400" y="2039112"/>
            <a:ext cx="5257800" cy="786384"/>
          </a:xfrm>
          <a:prstGeom prst="roundRect">
            <a:avLst>
              <a:gd name="adj" fmla="val 13953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AEA7AFB-2AEA-4C13-8D04-032CFA60FCD5}"/>
              </a:ext>
            </a:extLst>
          </p:cNvPr>
          <p:cNvSpPr/>
          <p:nvPr/>
        </p:nvSpPr>
        <p:spPr>
          <a:xfrm>
            <a:off x="1078992" y="213969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7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0C14275-1DA6-B4E5-90E2-00D220D68745}"/>
              </a:ext>
            </a:extLst>
          </p:cNvPr>
          <p:cNvSpPr/>
          <p:nvPr/>
        </p:nvSpPr>
        <p:spPr>
          <a:xfrm>
            <a:off x="1078992" y="2432304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new record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9C5A5D-5325-52AD-8E92-1E68CCF59EB3}"/>
              </a:ext>
            </a:extLst>
          </p:cNvPr>
          <p:cNvSpPr/>
          <p:nvPr/>
        </p:nvSpPr>
        <p:spPr>
          <a:xfrm>
            <a:off x="6446520" y="2039112"/>
            <a:ext cx="5257800" cy="786384"/>
          </a:xfrm>
          <a:prstGeom prst="roundRect">
            <a:avLst>
              <a:gd name="adj" fmla="val 13953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AFC6721-1D31-96B7-C797-06FB2039B280}"/>
              </a:ext>
            </a:extLst>
          </p:cNvPr>
          <p:cNvSpPr/>
          <p:nvPr/>
        </p:nvSpPr>
        <p:spPr>
          <a:xfrm>
            <a:off x="6611112" y="213969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7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5717A13-626F-8080-BD9D-8FE077E9FA69}"/>
              </a:ext>
            </a:extLst>
          </p:cNvPr>
          <p:cNvSpPr/>
          <p:nvPr/>
        </p:nvSpPr>
        <p:spPr>
          <a:xfrm>
            <a:off x="6611112" y="2432304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existing records</a:t>
            </a:r>
            <a:endParaRPr lang="en-US" sz="13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463F8F6-3473-0C52-9864-227C905F1C29}"/>
              </a:ext>
            </a:extLst>
          </p:cNvPr>
          <p:cNvSpPr/>
          <p:nvPr/>
        </p:nvSpPr>
        <p:spPr>
          <a:xfrm>
            <a:off x="914400" y="3044952"/>
            <a:ext cx="5257800" cy="786384"/>
          </a:xfrm>
          <a:prstGeom prst="roundRect">
            <a:avLst>
              <a:gd name="adj" fmla="val 13953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C6F0077-224F-1867-18E4-CF6FAECFA2BB}"/>
              </a:ext>
            </a:extLst>
          </p:cNvPr>
          <p:cNvSpPr/>
          <p:nvPr/>
        </p:nvSpPr>
        <p:spPr>
          <a:xfrm>
            <a:off x="1078992" y="314553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7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88CD2D5-D250-886F-725F-9602CE20C4E0}"/>
              </a:ext>
            </a:extLst>
          </p:cNvPr>
          <p:cNvSpPr/>
          <p:nvPr/>
        </p:nvSpPr>
        <p:spPr>
          <a:xfrm>
            <a:off x="1078992" y="3438144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existing records</a:t>
            </a:r>
            <a:endParaRPr lang="en-US" sz="13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BDE8E118-CEF7-8AAA-927F-9AB2620FDB58}"/>
              </a:ext>
            </a:extLst>
          </p:cNvPr>
          <p:cNvSpPr/>
          <p:nvPr/>
        </p:nvSpPr>
        <p:spPr>
          <a:xfrm>
            <a:off x="6446520" y="3044952"/>
            <a:ext cx="5257800" cy="786384"/>
          </a:xfrm>
          <a:prstGeom prst="roundRect">
            <a:avLst>
              <a:gd name="adj" fmla="val 13953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BCC4791A-4FB3-5BC7-B836-D6EEEB0AD1EE}"/>
              </a:ext>
            </a:extLst>
          </p:cNvPr>
          <p:cNvSpPr/>
          <p:nvPr/>
        </p:nvSpPr>
        <p:spPr>
          <a:xfrm>
            <a:off x="6611112" y="314553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7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99ABAD65-2B7B-6F08-6877-D3C8D63D6A04}"/>
              </a:ext>
            </a:extLst>
          </p:cNvPr>
          <p:cNvSpPr/>
          <p:nvPr/>
        </p:nvSpPr>
        <p:spPr>
          <a:xfrm>
            <a:off x="6611112" y="3438144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records</a:t>
            </a:r>
            <a:endParaRPr lang="en-US" sz="13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8A91693F-ABC0-FF06-6402-65CD20956C37}"/>
              </a:ext>
            </a:extLst>
          </p:cNvPr>
          <p:cNvSpPr/>
          <p:nvPr/>
        </p:nvSpPr>
        <p:spPr>
          <a:xfrm>
            <a:off x="941832" y="4325112"/>
            <a:ext cx="10250424" cy="1399032"/>
          </a:xfrm>
          <a:prstGeom prst="roundRect">
            <a:avLst>
              <a:gd name="adj" fmla="val 7843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BED28C01-2192-C6EB-FDD1-83C2C68855AD}"/>
              </a:ext>
            </a:extLst>
          </p:cNvPr>
          <p:cNvSpPr/>
          <p:nvPr/>
        </p:nvSpPr>
        <p:spPr>
          <a:xfrm>
            <a:off x="1143000" y="4498848"/>
            <a:ext cx="98480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SELECT name, marks FROM students;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INSERT INTO students(name,email,marks)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VALUES ('Amit', 'amit@example.com', 85);</a:t>
            </a:r>
            <a:endParaRPr lang="en-US" sz="17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3A57570E-839F-D96B-5D20-85ABCA033050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provides four basic operations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425144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D1DD56-F956-9497-1E71-31D7EC831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59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B54676-EEA1-A8D3-296F-0758B755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3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EB644E-DF23-5F5C-794F-A8C29A5A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64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DF8612FA-0851-3AF6-6A29-FF386C644112}"/>
              </a:ext>
            </a:extLst>
          </p:cNvPr>
          <p:cNvSpPr/>
          <p:nvPr/>
        </p:nvSpPr>
        <p:spPr>
          <a:xfrm>
            <a:off x="822960" y="1975104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6BC2C0AE-FA2D-6094-04D0-E3C5DFC2922D}"/>
              </a:ext>
            </a:extLst>
          </p:cNvPr>
          <p:cNvSpPr/>
          <p:nvPr/>
        </p:nvSpPr>
        <p:spPr>
          <a:xfrm>
            <a:off x="1024128" y="2148840"/>
            <a:ext cx="1020470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 url = "jdbc:mysql://localhost:3306/studentdb";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 user = System.getenv("DB_USER");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 password = System.getenv("DB_PASSWORD");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try (Connection con = DriverManager.getConnection(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url, user, password)) {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System.out.println("Connected!");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9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5283195-8E78-1B4D-3EF7-D1356ED6C116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open a database connection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160748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04F2DA79-970A-DA8E-A715-996063169FBD}"/>
              </a:ext>
            </a:extLst>
          </p:cNvPr>
          <p:cNvSpPr/>
          <p:nvPr/>
        </p:nvSpPr>
        <p:spPr>
          <a:xfrm>
            <a:off x="640080" y="33832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F007665-5EE9-2E14-C772-A4EB477F826B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save data safely</a:t>
            </a:r>
            <a:endParaRPr lang="en-US" sz="31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C6A4C51-B252-2218-F840-EA28A40DB0C0}"/>
              </a:ext>
            </a:extLst>
          </p:cNvPr>
          <p:cNvSpPr/>
          <p:nvPr/>
        </p:nvSpPr>
        <p:spPr>
          <a:xfrm>
            <a:off x="640080" y="1417320"/>
            <a:ext cx="10899648" cy="0"/>
          </a:xfrm>
          <a:prstGeom prst="line">
            <a:avLst/>
          </a:prstGeom>
          <a:noFill/>
          <a:ln w="12700">
            <a:solidFill>
              <a:srgbClr val="D4DBD6"/>
            </a:solidFill>
            <a:prstDash val="solid"/>
          </a:ln>
        </p:spPr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7606D3E1-66E5-F6BE-6D46-7F5074654705}"/>
              </a:ext>
            </a:extLst>
          </p:cNvPr>
          <p:cNvSpPr/>
          <p:nvPr/>
        </p:nvSpPr>
        <p:spPr>
          <a:xfrm>
            <a:off x="822960" y="1856232"/>
            <a:ext cx="10588752" cy="3968496"/>
          </a:xfrm>
          <a:prstGeom prst="roundRect">
            <a:avLst>
              <a:gd name="adj" fmla="val 2765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FC33CE71-AD8B-1ADB-BB1C-AEC399D72C24}"/>
              </a:ext>
            </a:extLst>
          </p:cNvPr>
          <p:cNvSpPr/>
          <p:nvPr/>
        </p:nvSpPr>
        <p:spPr>
          <a:xfrm>
            <a:off x="1024128" y="2029968"/>
            <a:ext cx="1018641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 sql =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"INSERT INTO students(name, email, marks) VALUES (?, ?, ?)";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try (PreparedStatement ps = con.prepareStatement(sql)) {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ps.setString(1, name);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ps.setString(2, email);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ps.setInt(3, marks);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ps.executeUpdate();</a:t>
            </a:r>
            <a:endParaRPr lang="en-US" sz="1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85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9D318A7-7E1F-B968-1077-9C57BE0A5AB2}"/>
              </a:ext>
            </a:extLst>
          </p:cNvPr>
          <p:cNvSpPr/>
          <p:nvPr/>
        </p:nvSpPr>
        <p:spPr>
          <a:xfrm>
            <a:off x="914400" y="590702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? placeholders separate user data from SQL syntax.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11608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73CD86CC-FA05-ABF0-E109-BCC65E04C6B9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retrieve records</a:t>
            </a:r>
            <a:endParaRPr lang="en-US" sz="31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066DC32-382D-0617-D431-11BA8EEE240C}"/>
              </a:ext>
            </a:extLst>
          </p:cNvPr>
          <p:cNvSpPr/>
          <p:nvPr/>
        </p:nvSpPr>
        <p:spPr>
          <a:xfrm>
            <a:off x="640080" y="1417320"/>
            <a:ext cx="10899648" cy="0"/>
          </a:xfrm>
          <a:prstGeom prst="line">
            <a:avLst/>
          </a:prstGeom>
          <a:noFill/>
          <a:ln w="12700">
            <a:solidFill>
              <a:srgbClr val="D4DBD6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8DE9C2B-974D-02FF-019F-8C7F470F494F}"/>
              </a:ext>
            </a:extLst>
          </p:cNvPr>
          <p:cNvSpPr/>
          <p:nvPr/>
        </p:nvSpPr>
        <p:spPr>
          <a:xfrm>
            <a:off x="822960" y="1892808"/>
            <a:ext cx="10588752" cy="4123944"/>
          </a:xfrm>
          <a:prstGeom prst="roundRect">
            <a:avLst>
              <a:gd name="adj" fmla="val 2661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15719BA-2CF7-5CFB-9C26-FC75F1774B91}"/>
              </a:ext>
            </a:extLst>
          </p:cNvPr>
          <p:cNvSpPr/>
          <p:nvPr/>
        </p:nvSpPr>
        <p:spPr>
          <a:xfrm>
            <a:off x="1024128" y="2066544"/>
            <a:ext cx="1018641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 sql = "SELECT name, marks FROM students";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try (PreparedStatement ps = con.prepareStatement(sql);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ResultSet rs = ps.executeQuery()) {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while (rs.next()) {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System.out.println(rs.getString("name")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+ " : " + rs.getInt("marks"));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820" dirty="0"/>
          </a:p>
        </p:txBody>
      </p:sp>
    </p:spTree>
    <p:extLst>
      <p:ext uri="{BB962C8B-B14F-4D97-AF65-F5344CB8AC3E}">
        <p14:creationId xmlns:p14="http://schemas.microsoft.com/office/powerpoint/2010/main" val="2906199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AB3D-2D6F-48ED-F96E-DA428454D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Build an application</a:t>
            </a:r>
          </a:p>
        </p:txBody>
      </p:sp>
    </p:spTree>
    <p:extLst>
      <p:ext uri="{BB962C8B-B14F-4D97-AF65-F5344CB8AC3E}">
        <p14:creationId xmlns:p14="http://schemas.microsoft.com/office/powerpoint/2010/main" val="520193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06F29CA-6761-BA50-CE00-4CCA29675F76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studentdb</a:t>
            </a:r>
            <a:endParaRPr lang="en-US" sz="3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F2D81CF-6371-DE66-DB09-2D7F54518180}"/>
              </a:ext>
            </a:extLst>
          </p:cNvPr>
          <p:cNvSpPr/>
          <p:nvPr/>
        </p:nvSpPr>
        <p:spPr>
          <a:xfrm>
            <a:off x="640080" y="1417320"/>
            <a:ext cx="10899648" cy="0"/>
          </a:xfrm>
          <a:prstGeom prst="line">
            <a:avLst/>
          </a:prstGeom>
          <a:noFill/>
          <a:ln w="12700">
            <a:solidFill>
              <a:srgbClr val="D4DBD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8B882F-32BB-B301-73CC-50768AF88926}"/>
              </a:ext>
            </a:extLst>
          </p:cNvPr>
          <p:cNvSpPr/>
          <p:nvPr/>
        </p:nvSpPr>
        <p:spPr>
          <a:xfrm>
            <a:off x="850392" y="1764792"/>
            <a:ext cx="10460736" cy="4032504"/>
          </a:xfrm>
          <a:prstGeom prst="roundRect">
            <a:avLst>
              <a:gd name="adj" fmla="val 2721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4B2488D-1D2C-684A-3120-1B7F34281376}"/>
              </a:ext>
            </a:extLst>
          </p:cNvPr>
          <p:cNvSpPr/>
          <p:nvPr/>
        </p:nvSpPr>
        <p:spPr>
          <a:xfrm>
            <a:off x="1051560" y="1938528"/>
            <a:ext cx="100584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DATABASE IF NOT EXISTS studentdb;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 studentdb;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TABLE IF NOT EXISTS students (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id INT AUTO_INCREMENT PRIMARY KEY,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name VARCHAR(100) NOT NULL,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email VARCHAR(150) NOT NULL UNIQUE,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marks INT NOT NULL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1920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1">
            <a:extLst>
              <a:ext uri="{FF2B5EF4-FFF2-40B4-BE49-F238E27FC236}">
                <a16:creationId xmlns:a16="http://schemas.microsoft.com/office/drawing/2014/main" id="{EE1A65EF-6783-54D2-9A3A-C2A68BEDBF35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GUI</a:t>
            </a:r>
            <a:endParaRPr lang="en-US" sz="3100" dirty="0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79D0A383-4AA1-5EEA-58AA-8002673989F9}"/>
              </a:ext>
            </a:extLst>
          </p:cNvPr>
          <p:cNvSpPr/>
          <p:nvPr/>
        </p:nvSpPr>
        <p:spPr>
          <a:xfrm>
            <a:off x="640080" y="1417320"/>
            <a:ext cx="10899648" cy="0"/>
          </a:xfrm>
          <a:prstGeom prst="line">
            <a:avLst/>
          </a:prstGeom>
          <a:noFill/>
          <a:ln w="12700">
            <a:solidFill>
              <a:srgbClr val="D4DBD6"/>
            </a:solidFill>
            <a:prstDash val="solid"/>
          </a:ln>
        </p:spPr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FEE649BB-85BD-E1B5-F13B-9400C7139046}"/>
              </a:ext>
            </a:extLst>
          </p:cNvPr>
          <p:cNvSpPr/>
          <p:nvPr/>
        </p:nvSpPr>
        <p:spPr>
          <a:xfrm>
            <a:off x="795528" y="1901952"/>
            <a:ext cx="6492240" cy="3977640"/>
          </a:xfrm>
          <a:prstGeom prst="roundRect">
            <a:avLst>
              <a:gd name="adj" fmla="val 2759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D796E468-29E2-9D30-8911-151F208FEEFB}"/>
              </a:ext>
            </a:extLst>
          </p:cNvPr>
          <p:cNvSpPr/>
          <p:nvPr/>
        </p:nvSpPr>
        <p:spPr>
          <a:xfrm>
            <a:off x="996696" y="2075688"/>
            <a:ext cx="6089904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TextField name  = new TextField();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TextField email = new TextField();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TextField marks = new TextField();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Button save = new Button("Save Student");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VBox root = new VBox(10,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new Label("Name"), name,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new Label("Email"), email,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new Label("Marks"), marks, save);</a:t>
            </a:r>
            <a:endParaRPr lang="en-US" sz="1800" dirty="0"/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A4316EFB-923E-838C-447E-2468B861E6A9}"/>
              </a:ext>
            </a:extLst>
          </p:cNvPr>
          <p:cNvSpPr/>
          <p:nvPr/>
        </p:nvSpPr>
        <p:spPr>
          <a:xfrm>
            <a:off x="7635240" y="1856232"/>
            <a:ext cx="3639312" cy="4023360"/>
          </a:xfrm>
          <a:prstGeom prst="roundRect">
            <a:avLst>
              <a:gd name="adj" fmla="val 3015"/>
            </a:avLst>
          </a:prstGeom>
          <a:solidFill>
            <a:srgbClr val="F5F7F5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857E28CB-1FC7-E2D3-D2D8-19E490EB3F56}"/>
              </a:ext>
            </a:extLst>
          </p:cNvPr>
          <p:cNvSpPr/>
          <p:nvPr/>
        </p:nvSpPr>
        <p:spPr>
          <a:xfrm>
            <a:off x="7927848" y="214884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Registration</a:t>
            </a:r>
            <a:endParaRPr lang="en-US" sz="2000" dirty="0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id="{33D47FF8-DBC0-F7F3-EEE8-AED6764516E0}"/>
              </a:ext>
            </a:extLst>
          </p:cNvPr>
          <p:cNvSpPr/>
          <p:nvPr/>
        </p:nvSpPr>
        <p:spPr>
          <a:xfrm>
            <a:off x="7973568" y="268833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400" dirty="0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4B1E004F-799D-483F-27BF-795F85C3DDD8}"/>
              </a:ext>
            </a:extLst>
          </p:cNvPr>
          <p:cNvSpPr/>
          <p:nvPr/>
        </p:nvSpPr>
        <p:spPr>
          <a:xfrm>
            <a:off x="8851392" y="2624328"/>
            <a:ext cx="2002536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D21E1008-ADC7-C204-3350-3A11A59824A3}"/>
              </a:ext>
            </a:extLst>
          </p:cNvPr>
          <p:cNvSpPr/>
          <p:nvPr/>
        </p:nvSpPr>
        <p:spPr>
          <a:xfrm>
            <a:off x="7973568" y="339242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400" dirty="0"/>
          </a:p>
        </p:txBody>
      </p:sp>
      <p:sp>
        <p:nvSpPr>
          <p:cNvPr id="79" name="Shape 13">
            <a:extLst>
              <a:ext uri="{FF2B5EF4-FFF2-40B4-BE49-F238E27FC236}">
                <a16:creationId xmlns:a16="http://schemas.microsoft.com/office/drawing/2014/main" id="{4C2B7405-7C19-3AF4-98F2-B1B5B3C66758}"/>
              </a:ext>
            </a:extLst>
          </p:cNvPr>
          <p:cNvSpPr/>
          <p:nvPr/>
        </p:nvSpPr>
        <p:spPr>
          <a:xfrm>
            <a:off x="8851392" y="3328416"/>
            <a:ext cx="2002536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32D2824D-A884-0A30-76BC-621B02151428}"/>
              </a:ext>
            </a:extLst>
          </p:cNvPr>
          <p:cNvSpPr/>
          <p:nvPr/>
        </p:nvSpPr>
        <p:spPr>
          <a:xfrm>
            <a:off x="7973568" y="40965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9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</a:t>
            </a:r>
            <a:endParaRPr lang="en-US" sz="1400" dirty="0"/>
          </a:p>
        </p:txBody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CCF5F33B-04BE-23DE-98C4-21834E253C39}"/>
              </a:ext>
            </a:extLst>
          </p:cNvPr>
          <p:cNvSpPr/>
          <p:nvPr/>
        </p:nvSpPr>
        <p:spPr>
          <a:xfrm>
            <a:off x="8851392" y="4032504"/>
            <a:ext cx="2002536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10B77994-5CC7-29DE-AD4E-4D0286B8C328}"/>
              </a:ext>
            </a:extLst>
          </p:cNvPr>
          <p:cNvSpPr/>
          <p:nvPr/>
        </p:nvSpPr>
        <p:spPr>
          <a:xfrm>
            <a:off x="8403336" y="5020056"/>
            <a:ext cx="2084832" cy="502920"/>
          </a:xfrm>
          <a:prstGeom prst="roundRect">
            <a:avLst>
              <a:gd name="adj" fmla="val 14545"/>
            </a:avLst>
          </a:prstGeom>
          <a:solidFill>
            <a:srgbClr val="195E54"/>
          </a:solidFill>
          <a:ln w="12700">
            <a:solidFill>
              <a:srgbClr val="195E54"/>
            </a:solidFill>
            <a:prstDash val="solid"/>
          </a:ln>
        </p:spPr>
      </p:sp>
      <p:sp>
        <p:nvSpPr>
          <p:cNvPr id="87" name="Text 17">
            <a:extLst>
              <a:ext uri="{FF2B5EF4-FFF2-40B4-BE49-F238E27FC236}">
                <a16:creationId xmlns:a16="http://schemas.microsoft.com/office/drawing/2014/main" id="{1E505481-CDF2-A2D7-3F98-8BCA0DFD3E73}"/>
              </a:ext>
            </a:extLst>
          </p:cNvPr>
          <p:cNvSpPr/>
          <p:nvPr/>
        </p:nvSpPr>
        <p:spPr>
          <a:xfrm>
            <a:off x="8513064" y="51297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Student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0948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1219C1B-C73D-14AA-89F8-A8465BB7FB32}"/>
              </a:ext>
            </a:extLst>
          </p:cNvPr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9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 and persist</a:t>
            </a:r>
            <a:endParaRPr lang="en-US" sz="31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32E2BEC-60E5-2E29-1F91-8F6BBA74634D}"/>
              </a:ext>
            </a:extLst>
          </p:cNvPr>
          <p:cNvSpPr/>
          <p:nvPr/>
        </p:nvSpPr>
        <p:spPr>
          <a:xfrm>
            <a:off x="640080" y="1417320"/>
            <a:ext cx="10899648" cy="0"/>
          </a:xfrm>
          <a:prstGeom prst="line">
            <a:avLst/>
          </a:prstGeom>
          <a:noFill/>
          <a:ln w="12700">
            <a:solidFill>
              <a:srgbClr val="D4DBD6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A35AB0C-B1EB-785A-E919-DC9BF0F8451F}"/>
              </a:ext>
            </a:extLst>
          </p:cNvPr>
          <p:cNvSpPr/>
          <p:nvPr/>
        </p:nvSpPr>
        <p:spPr>
          <a:xfrm>
            <a:off x="859536" y="1810512"/>
            <a:ext cx="10488168" cy="4352544"/>
          </a:xfrm>
          <a:prstGeom prst="roundRect">
            <a:avLst>
              <a:gd name="adj" fmla="val 2521"/>
            </a:avLst>
          </a:prstGeom>
          <a:solidFill>
            <a:srgbClr val="F0F3F2"/>
          </a:solidFill>
          <a:ln w="12700">
            <a:solidFill>
              <a:srgbClr val="D4DBD6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64C9C94-BDCB-4184-4F5A-D7D0A6FE0B05}"/>
              </a:ext>
            </a:extLst>
          </p:cNvPr>
          <p:cNvSpPr/>
          <p:nvPr/>
        </p:nvSpPr>
        <p:spPr>
          <a:xfrm>
            <a:off x="1060704" y="1984248"/>
            <a:ext cx="100858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save.setOnAction(event -&gt; {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String n = name.getText().trim();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String e = email.getText().trim();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int m = Integer.parseInt(marks.getText());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try {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repository.save(n, e, m);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status.setText("Student saved");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 catch (SQLException ex) {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status.setText(ex.getMessage());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1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1B292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});</a:t>
            </a:r>
            <a:endParaRPr lang="en-US" sz="1820" dirty="0"/>
          </a:p>
        </p:txBody>
      </p:sp>
    </p:spTree>
    <p:extLst>
      <p:ext uri="{BB962C8B-B14F-4D97-AF65-F5344CB8AC3E}">
        <p14:creationId xmlns:p14="http://schemas.microsoft.com/office/powerpoint/2010/main" val="1977596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882351-E9F3-01C7-5472-ED2842395643}"/>
              </a:ext>
            </a:extLst>
          </p:cNvPr>
          <p:cNvSpPr txBox="1"/>
          <p:nvPr/>
        </p:nvSpPr>
        <p:spPr>
          <a:xfrm>
            <a:off x="4301613" y="2595715"/>
            <a:ext cx="4940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874E3-819D-5AAD-28EF-6ECAED2050BF}"/>
              </a:ext>
            </a:extLst>
          </p:cNvPr>
          <p:cNvSpPr txBox="1"/>
          <p:nvPr/>
        </p:nvSpPr>
        <p:spPr>
          <a:xfrm>
            <a:off x="8598308" y="5043948"/>
            <a:ext cx="4055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github.com/</a:t>
            </a:r>
            <a:r>
              <a:rPr lang="en-IN" dirty="0" err="1"/>
              <a:t>junaidjmomin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1601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{F12EBE02-7615-486D-98F0-2BA3030D7FD0}TF1ed9553b-00c4-4092-846a-c8f7f2908f3beecd942f_win32-8e33096c3cfc</Template>
  <TotalTime>151</TotalTime>
  <Words>1129</Words>
  <Application>Microsoft Office PowerPoint</Application>
  <PresentationFormat>Widescreen</PresentationFormat>
  <Paragraphs>183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Georgia</vt:lpstr>
      <vt:lpstr>Gill Sans Nova Light</vt:lpstr>
      <vt:lpstr>Liberation Mono</vt:lpstr>
      <vt:lpstr>Sagona Book</vt:lpstr>
      <vt:lpstr>Custom</vt:lpstr>
      <vt:lpstr>JavaFX and JDBC tutorial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an application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Momin</dc:creator>
  <cp:lastModifiedBy>Junaid Momin</cp:lastModifiedBy>
  <cp:revision>2</cp:revision>
  <dcterms:created xsi:type="dcterms:W3CDTF">2026-10-24T13:34:22Z</dcterms:created>
  <dcterms:modified xsi:type="dcterms:W3CDTF">2026-10-24T16:06:00Z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